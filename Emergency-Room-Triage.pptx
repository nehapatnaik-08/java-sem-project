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Tomorrow Bold"/>
      <p:regular r:id="rId201314"/>
    </p:embeddedFont>
    <p:embeddedFont>
      <p:font typeface="Tomorrow"/>
      <p:regular r:id="rId201315"/>
    </p:embeddedFont>
    <p:embeddedFont>
      <p:font typeface="Tomorrow Semi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image" Target="../media/image-3-10.png"/><Relationship Id="rId11" Type="http://schemas.openxmlformats.org/officeDocument/2006/relationships/image" Target="../media/image-3-11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image" Target="../media/image-6-1.png"/><Relationship Id="rId8" Type="http://schemas.openxmlformats.org/officeDocument/2006/relationships/image" Target="../media/image-6-2.svg"/><Relationship Id="rId9" Type="http://schemas.openxmlformats.org/officeDocument/2006/relationships/image" Target="../media/image-6-1.png"/><Relationship Id="rId10" Type="http://schemas.openxmlformats.org/officeDocument/2006/relationships/image" Target="../media/image-6-2.svg"/><Relationship Id="rId11" Type="http://schemas.openxmlformats.org/officeDocument/2006/relationships/image" Target="../media/image-6-1.png"/><Relationship Id="rId12" Type="http://schemas.openxmlformats.org/officeDocument/2006/relationships/image" Target="../media/image-6-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image" Target="../media/image-10-1.png"/><Relationship Id="rId10" Type="http://schemas.openxmlformats.org/officeDocument/2006/relationships/image" Target="../media/image-10-2.svg"/><Relationship Id="rId11" Type="http://schemas.openxmlformats.org/officeDocument/2006/relationships/image" Target="../media/image-10-1.png"/><Relationship Id="rId12" Type="http://schemas.openxmlformats.org/officeDocument/2006/relationships/image" Target="../media/image-10-2.svg"/><Relationship Id="rId13" Type="http://schemas.openxmlformats.org/officeDocument/2006/relationships/image" Target="../media/image-10-1.png"/><Relationship Id="rId14" Type="http://schemas.openxmlformats.org/officeDocument/2006/relationships/image" Target="../media/image-10-2.svg"/><Relationship Id="rId15" Type="http://schemas.openxmlformats.org/officeDocument/2006/relationships/image" Target="../media/image-10-1.png"/><Relationship Id="rId16" Type="http://schemas.openxmlformats.org/officeDocument/2006/relationships/image" Target="../media/image-10-2.svg"/><Relationship Id="rId17" Type="http://schemas.openxmlformats.org/officeDocument/2006/relationships/image" Target="../media/image-10-1.png"/><Relationship Id="rId18" Type="http://schemas.openxmlformats.org/officeDocument/2006/relationships/image" Target="../media/image-10-2.svg"/><Relationship Id="rId19" Type="http://schemas.openxmlformats.org/officeDocument/2006/relationships/image" Target="../media/image-10-1.png"/><Relationship Id="rId20" Type="http://schemas.openxmlformats.org/officeDocument/2006/relationships/image" Target="../media/image-10-2.svg"/><Relationship Id="rId21" Type="http://schemas.openxmlformats.org/officeDocument/2006/relationships/image" Target="../media/image-10-1.png"/><Relationship Id="rId22" Type="http://schemas.openxmlformats.org/officeDocument/2006/relationships/image" Target="../media/image-10-2.svg"/><Relationship Id="rId23" Type="http://schemas.openxmlformats.org/officeDocument/2006/relationships/image" Target="../media/image-10-1.png"/><Relationship Id="rId24" Type="http://schemas.openxmlformats.org/officeDocument/2006/relationships/image" Target="../media/image-10-2.svg"/><Relationship Id="rId25" Type="http://schemas.openxmlformats.org/officeDocument/2006/relationships/slideLayout" Target="../slideLayouts/slideLayout2.xml"/><Relationship Id="rId2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1193899"/>
            <a:ext cx="1792739" cy="132963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3338302"/>
            <a:ext cx="6296860" cy="1162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201B1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Emergency-Room Triage &amp; Patient Priority System</a:t>
            </a:r>
            <a:endParaRPr lang="en-US" sz="3650" dirty="0"/>
          </a:p>
        </p:txBody>
      </p:sp>
      <p:sp>
        <p:nvSpPr>
          <p:cNvPr id="5" name="Text 1"/>
          <p:cNvSpPr/>
          <p:nvPr/>
        </p:nvSpPr>
        <p:spPr>
          <a:xfrm>
            <a:off x="661475" y="4737100"/>
            <a:ext cx="6296860" cy="1593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2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 Java-based Patient Priority Management System</a:t>
            </a:r>
            <a:endParaRPr lang="en-US" sz="1450" dirty="0"/>
          </a:p>
          <a:p>
            <a:pPr algn="ctr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S. Neha Patnaik – 2620040133</a:t>
            </a:r>
            <a:endParaRPr lang="en-US" sz="1450" dirty="0"/>
          </a:p>
          <a:p>
            <a:pPr algn="ctr" indent="0" marL="0">
              <a:lnSpc>
                <a:spcPct val="132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Yuthikhaa Bellamkonda – 2620040055</a:t>
            </a:r>
            <a:endParaRPr lang="en-US" sz="1450" dirty="0"/>
          </a:p>
          <a:p>
            <a:pPr algn="ctr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Section 2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0033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What is Emergency-Room Triage?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25350" y="2234803"/>
            <a:ext cx="5476043" cy="3262511"/>
          </a:xfrm>
          <a:prstGeom prst="roundRect">
            <a:avLst>
              <a:gd name="adj" fmla="val 234"/>
            </a:avLst>
          </a:prstGeom>
          <a:solidFill>
            <a:srgbClr val="E7DC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4357" y="2447429"/>
            <a:ext cx="472468" cy="472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4357" y="3156148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The Problem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714357" y="3640435"/>
            <a:ext cx="5098029" cy="164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Emergency rooms receive patients with different urgency levels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Treating patients by arrival order delays critical cases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Manual prioritization becomes difficult under high load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196651" y="2234803"/>
            <a:ext cx="5476043" cy="3262511"/>
          </a:xfrm>
          <a:prstGeom prst="roundRect">
            <a:avLst>
              <a:gd name="adj" fmla="val 234"/>
            </a:avLst>
          </a:prstGeom>
          <a:solidFill>
            <a:srgbClr val="E7DCD9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85658" y="2447429"/>
            <a:ext cx="472468" cy="472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85658" y="3156148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The Solution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6385658" y="3640435"/>
            <a:ext cx="5098029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 structured, automated priority system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Java-based program to organize patients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Assigns priority based on clinical values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Displays patients in treatment order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99651"/>
            <a:ext cx="6296860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Project Objectives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28568" y="1177519"/>
            <a:ext cx="690644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Our system is designed to achieve the following core objectives: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233360" y="1487984"/>
            <a:ext cx="3095250" cy="1522313"/>
          </a:xfrm>
          <a:prstGeom prst="roundRect">
            <a:avLst>
              <a:gd name="adj" fmla="val 501"/>
            </a:avLst>
          </a:prstGeom>
          <a:solidFill>
            <a:srgbClr val="F2EEEE"/>
          </a:solidFill>
          <a:ln w="12700">
            <a:solidFill>
              <a:srgbClr val="3E251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87741" y="1642368"/>
            <a:ext cx="425241" cy="425252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04717" y="1759248"/>
            <a:ext cx="191289" cy="1912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87741" y="2173883"/>
            <a:ext cx="278648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Register Patient Information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5387741" y="2459038"/>
            <a:ext cx="2786489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Capture patient name, age, and clinical data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8434871" y="1487984"/>
            <a:ext cx="3095349" cy="1522313"/>
          </a:xfrm>
          <a:prstGeom prst="roundRect">
            <a:avLst>
              <a:gd name="adj" fmla="val 501"/>
            </a:avLst>
          </a:prstGeom>
          <a:solidFill>
            <a:srgbClr val="F2EEEE"/>
          </a:solidFill>
          <a:ln w="12700">
            <a:solidFill>
              <a:srgbClr val="3E2513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589252" y="1642368"/>
            <a:ext cx="425241" cy="425252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06228" y="1759248"/>
            <a:ext cx="191289" cy="19129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589252" y="2173883"/>
            <a:ext cx="27865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Accept Clinical Values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8589252" y="2459038"/>
            <a:ext cx="278658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Input heart rate and oxygen level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233360" y="3116560"/>
            <a:ext cx="3095250" cy="1743770"/>
          </a:xfrm>
          <a:prstGeom prst="roundRect">
            <a:avLst>
              <a:gd name="adj" fmla="val 437"/>
            </a:avLst>
          </a:prstGeom>
          <a:solidFill>
            <a:srgbClr val="F2EEEE"/>
          </a:solidFill>
          <a:ln w="12700">
            <a:solidFill>
              <a:srgbClr val="3E2513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387741" y="3270945"/>
            <a:ext cx="425241" cy="425252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04717" y="3387824"/>
            <a:ext cx="191289" cy="19129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87741" y="3802459"/>
            <a:ext cx="2786489" cy="442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Calculate Priority Automatically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5387741" y="4309070"/>
            <a:ext cx="2786489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Apply predefined rules to assign priority level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8434871" y="3116560"/>
            <a:ext cx="3095349" cy="1743770"/>
          </a:xfrm>
          <a:prstGeom prst="roundRect">
            <a:avLst>
              <a:gd name="adj" fmla="val 437"/>
            </a:avLst>
          </a:prstGeom>
          <a:solidFill>
            <a:srgbClr val="F2EEEE"/>
          </a:solidFill>
          <a:ln w="12700">
            <a:solidFill>
              <a:srgbClr val="3E2513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589252" y="3270945"/>
            <a:ext cx="425241" cy="425252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06228" y="3387824"/>
            <a:ext cx="191289" cy="19129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589252" y="3802459"/>
            <a:ext cx="27865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Categorize Patients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8589252" y="4087614"/>
            <a:ext cx="2786588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Organize into Emergency, Urgent, and Non-Urgent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5233360" y="4966593"/>
            <a:ext cx="6296860" cy="1323876"/>
          </a:xfrm>
          <a:prstGeom prst="roundRect">
            <a:avLst>
              <a:gd name="adj" fmla="val 576"/>
            </a:avLst>
          </a:prstGeom>
          <a:solidFill>
            <a:srgbClr val="F2EEEE"/>
          </a:solidFill>
          <a:ln w="12700">
            <a:solidFill>
              <a:srgbClr val="3E2513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5387741" y="5120977"/>
            <a:ext cx="425241" cy="425252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04717" y="5237857"/>
            <a:ext cx="191289" cy="19129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387741" y="5652492"/>
            <a:ext cx="598809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Display Results</a:t>
            </a:r>
            <a:endParaRPr lang="en-US" sz="1350" dirty="0"/>
          </a:p>
        </p:txBody>
      </p:sp>
      <p:sp>
        <p:nvSpPr>
          <p:cNvPr id="29" name="Text 21"/>
          <p:cNvSpPr/>
          <p:nvPr/>
        </p:nvSpPr>
        <p:spPr>
          <a:xfrm>
            <a:off x="5387741" y="5937647"/>
            <a:ext cx="5988099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Show organized patient information and statistics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25" y="101397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System Workflow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363490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072209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Patient Registration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480891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Capture name and age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363490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072209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Data Input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3480891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Enter heart rate and oxygen level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4794" y="2363490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072209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Priority Calculation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3480891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Apply rules to determine priority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161334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1475" y="4870053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Patient Categorization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61475" y="5278735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Assign to Emergency/Urgent/Non-Urgent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63135" y="4161334"/>
            <a:ext cx="472468" cy="4724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363135" y="4870053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Display Results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4363135" y="5278735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Show organized patient list</a:t>
            </a:r>
            <a:endParaRPr lang="en-US" sz="14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64794" y="4161334"/>
            <a:ext cx="472468" cy="47248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064794" y="4870053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Emergency Alert</a:t>
            </a:r>
            <a:endParaRPr lang="en-US" sz="1850" dirty="0"/>
          </a:p>
        </p:txBody>
      </p:sp>
      <p:sp>
        <p:nvSpPr>
          <p:cNvPr id="20" name="Text 12"/>
          <p:cNvSpPr/>
          <p:nvPr/>
        </p:nvSpPr>
        <p:spPr>
          <a:xfrm>
            <a:off x="8064794" y="5278735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Notify staff for priority of one patient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25" y="618246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201B1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Advantages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61475" y="1415355"/>
            <a:ext cx="3504715" cy="2100064"/>
          </a:xfrm>
          <a:prstGeom prst="roundRect">
            <a:avLst>
              <a:gd name="adj" fmla="val 363"/>
            </a:avLst>
          </a:prstGeom>
          <a:solidFill>
            <a:srgbClr val="F2EEEE"/>
          </a:solidFill>
          <a:ln w="19050">
            <a:solidFill>
              <a:srgbClr val="3E251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3578" y="1617464"/>
            <a:ext cx="549261" cy="549275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4586" y="1768475"/>
            <a:ext cx="247148" cy="2471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3578" y="2344043"/>
            <a:ext cx="3100508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Simple and Easy to Use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3578" y="2736453"/>
            <a:ext cx="3100508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Menu-driven interface requires minimal training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43490" y="1415355"/>
            <a:ext cx="3504715" cy="2100064"/>
          </a:xfrm>
          <a:prstGeom prst="roundRect">
            <a:avLst>
              <a:gd name="adj" fmla="val 363"/>
            </a:avLst>
          </a:prstGeom>
          <a:solidFill>
            <a:srgbClr val="F2EEEE"/>
          </a:solidFill>
          <a:ln w="19050">
            <a:solidFill>
              <a:srgbClr val="3E251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45593" y="1617464"/>
            <a:ext cx="549261" cy="549275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6600" y="1768475"/>
            <a:ext cx="247148" cy="24715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45593" y="2344043"/>
            <a:ext cx="3100508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Faster Priority Assignment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545593" y="2736453"/>
            <a:ext cx="3100508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Automated calculation reduces manual work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025505" y="1415355"/>
            <a:ext cx="3504715" cy="2100064"/>
          </a:xfrm>
          <a:prstGeom prst="roundRect">
            <a:avLst>
              <a:gd name="adj" fmla="val 363"/>
            </a:avLst>
          </a:prstGeom>
          <a:solidFill>
            <a:srgbClr val="F2EEEE"/>
          </a:solidFill>
          <a:ln w="19050">
            <a:solidFill>
              <a:srgbClr val="3E251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27608" y="1617464"/>
            <a:ext cx="549261" cy="549275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78615" y="1768475"/>
            <a:ext cx="247148" cy="24715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7608" y="2344043"/>
            <a:ext cx="3100508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Reduces Confusion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8227608" y="2736453"/>
            <a:ext cx="3100508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Clear, organized patient categorization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61475" y="3692723"/>
            <a:ext cx="3504715" cy="2100064"/>
          </a:xfrm>
          <a:prstGeom prst="roundRect">
            <a:avLst>
              <a:gd name="adj" fmla="val 363"/>
            </a:avLst>
          </a:prstGeom>
          <a:solidFill>
            <a:srgbClr val="F2EEEE"/>
          </a:solidFill>
          <a:ln w="19050">
            <a:solidFill>
              <a:srgbClr val="3E251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63578" y="3894832"/>
            <a:ext cx="549261" cy="549275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4586" y="4045843"/>
            <a:ext cx="247148" cy="24715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63578" y="4621411"/>
            <a:ext cx="3100508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Organized Information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863578" y="5013821"/>
            <a:ext cx="3100508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All patient data stored and displayed systematically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4343490" y="3692723"/>
            <a:ext cx="3504715" cy="2100064"/>
          </a:xfrm>
          <a:prstGeom prst="roundRect">
            <a:avLst>
              <a:gd name="adj" fmla="val 363"/>
            </a:avLst>
          </a:prstGeom>
          <a:solidFill>
            <a:srgbClr val="F2EEEE"/>
          </a:solidFill>
          <a:ln w="19050">
            <a:solidFill>
              <a:srgbClr val="3E2513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545593" y="3894832"/>
            <a:ext cx="549261" cy="549275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96600" y="4045843"/>
            <a:ext cx="247148" cy="24715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545593" y="4621411"/>
            <a:ext cx="3100508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Educational Value</a:t>
            </a:r>
            <a:endParaRPr lang="en-US" sz="1800" dirty="0"/>
          </a:p>
        </p:txBody>
      </p:sp>
      <p:sp>
        <p:nvSpPr>
          <p:cNvPr id="27" name="Text 20"/>
          <p:cNvSpPr/>
          <p:nvPr/>
        </p:nvSpPr>
        <p:spPr>
          <a:xfrm>
            <a:off x="4545593" y="5013821"/>
            <a:ext cx="3100508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Demonstrates automated triage logic using basic Java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8025505" y="3692723"/>
            <a:ext cx="3504715" cy="2100064"/>
          </a:xfrm>
          <a:prstGeom prst="roundRect">
            <a:avLst>
              <a:gd name="adj" fmla="val 363"/>
            </a:avLst>
          </a:prstGeom>
          <a:solidFill>
            <a:srgbClr val="F2EEEE"/>
          </a:solidFill>
          <a:ln w="19050">
            <a:solidFill>
              <a:srgbClr val="3E2513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227608" y="3894832"/>
            <a:ext cx="549261" cy="549275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78615" y="4045843"/>
            <a:ext cx="247148" cy="24715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227608" y="4621411"/>
            <a:ext cx="3100508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Menu-Driven Interaction</a:t>
            </a:r>
            <a:endParaRPr lang="en-US" sz="1800" dirty="0"/>
          </a:p>
        </p:txBody>
      </p:sp>
      <p:sp>
        <p:nvSpPr>
          <p:cNvPr id="32" name="Text 24"/>
          <p:cNvSpPr/>
          <p:nvPr/>
        </p:nvSpPr>
        <p:spPr>
          <a:xfrm>
            <a:off x="8227608" y="5013821"/>
            <a:ext cx="3100508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User-friendly console interface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25" y="149469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Limitations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329160"/>
            <a:ext cx="3496877" cy="14423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543572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Console-Based Interface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3247529"/>
            <a:ext cx="296646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No graphical user interface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329160"/>
            <a:ext cx="3496877" cy="1442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363" y="2543572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Fixed Patient Capacity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663363" y="2952254"/>
            <a:ext cx="296646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Limited by array size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2329160"/>
            <a:ext cx="3496877" cy="1442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9247" y="2543572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No Data Persistence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349247" y="2952254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Patient data is not permanently stored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960515"/>
            <a:ext cx="3496877" cy="14423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7479" y="4174927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Simplified Rules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77479" y="4583609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Uses basic predefined priority rules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47359" y="3960515"/>
            <a:ext cx="3496877" cy="14423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663363" y="4174927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Not a Clinical Protocol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4663363" y="4583609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Does not represent a complete medical triage protocol</a:t>
            </a:r>
            <a:endParaRPr lang="en-US" sz="14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33244" y="3960515"/>
            <a:ext cx="3496877" cy="144234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349247" y="4174927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Manual Data Entry</a:t>
            </a:r>
            <a:endParaRPr lang="en-US" sz="1850" dirty="0"/>
          </a:p>
        </p:txBody>
      </p:sp>
      <p:sp>
        <p:nvSpPr>
          <p:cNvPr id="20" name="Text 12"/>
          <p:cNvSpPr/>
          <p:nvPr/>
        </p:nvSpPr>
        <p:spPr>
          <a:xfrm>
            <a:off x="8349247" y="4583609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Requires user to input all information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25" y="597987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201B1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Future Scope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356682" y="1223210"/>
            <a:ext cx="11478330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FUTURE ENHANCEMENTS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61475" y="1568450"/>
            <a:ext cx="3542914" cy="1422202"/>
          </a:xfrm>
          <a:prstGeom prst="roundRect">
            <a:avLst>
              <a:gd name="adj" fmla="val 536"/>
            </a:avLst>
          </a:prstGeom>
          <a:solidFill>
            <a:srgbClr val="F2EEEE"/>
          </a:solidFill>
          <a:ln w="12700">
            <a:solidFill>
              <a:srgbClr val="3E25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4785" y="1731764"/>
            <a:ext cx="451831" cy="451842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9004" y="1855986"/>
            <a:ext cx="203294" cy="2032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4785" y="2303562"/>
            <a:ext cx="3216294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Graphical User Interface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4785" y="2610842"/>
            <a:ext cx="3216294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Replace console with a modern GUI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4341" y="1568450"/>
            <a:ext cx="3542914" cy="1422202"/>
          </a:xfrm>
          <a:prstGeom prst="roundRect">
            <a:avLst>
              <a:gd name="adj" fmla="val 536"/>
            </a:avLst>
          </a:prstGeom>
          <a:solidFill>
            <a:srgbClr val="F2EEEE"/>
          </a:solidFill>
          <a:ln w="12700">
            <a:solidFill>
              <a:srgbClr val="3E251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87651" y="1731764"/>
            <a:ext cx="451831" cy="451842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1870" y="1855986"/>
            <a:ext cx="203294" cy="20329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7651" y="2303562"/>
            <a:ext cx="3216294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Database Integration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487651" y="2610842"/>
            <a:ext cx="3216294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Store patient records permanently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987207" y="1568450"/>
            <a:ext cx="3543013" cy="1422202"/>
          </a:xfrm>
          <a:prstGeom prst="roundRect">
            <a:avLst>
              <a:gd name="adj" fmla="val 536"/>
            </a:avLst>
          </a:prstGeom>
          <a:solidFill>
            <a:srgbClr val="F2EEEE"/>
          </a:solidFill>
          <a:ln w="12700">
            <a:solidFill>
              <a:srgbClr val="3E251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50517" y="1731764"/>
            <a:ext cx="451831" cy="451842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74736" y="1855986"/>
            <a:ext cx="203294" cy="20329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50517" y="2303562"/>
            <a:ext cx="3216393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Secure Patient Records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150517" y="2610842"/>
            <a:ext cx="3216393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Implement data security and privacy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61475" y="3110607"/>
            <a:ext cx="3542914" cy="1638697"/>
          </a:xfrm>
          <a:prstGeom prst="roundRect">
            <a:avLst>
              <a:gd name="adj" fmla="val 465"/>
            </a:avLst>
          </a:prstGeom>
          <a:solidFill>
            <a:srgbClr val="F2EEEE"/>
          </a:solidFill>
          <a:ln w="12700">
            <a:solidFill>
              <a:srgbClr val="3E251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24785" y="3273921"/>
            <a:ext cx="451831" cy="451842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9004" y="3398143"/>
            <a:ext cx="203294" cy="20329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4785" y="3845719"/>
            <a:ext cx="3216294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Extended Parameters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24785" y="4152999"/>
            <a:ext cx="3216294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Include more clinical measurements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24341" y="3110607"/>
            <a:ext cx="3542914" cy="1638697"/>
          </a:xfrm>
          <a:prstGeom prst="roundRect">
            <a:avLst>
              <a:gd name="adj" fmla="val 465"/>
            </a:avLst>
          </a:prstGeom>
          <a:solidFill>
            <a:srgbClr val="F2EEEE"/>
          </a:solidFill>
          <a:ln w="12700">
            <a:solidFill>
              <a:srgbClr val="3E251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87651" y="3273921"/>
            <a:ext cx="451831" cy="451842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11870" y="3398143"/>
            <a:ext cx="203294" cy="20329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87651" y="3845719"/>
            <a:ext cx="3216294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Advanced Triage Rules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487651" y="4152999"/>
            <a:ext cx="3216294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Implement more sophisticated priority algorithms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7987207" y="3110607"/>
            <a:ext cx="3543013" cy="1638697"/>
          </a:xfrm>
          <a:prstGeom prst="roundRect">
            <a:avLst>
              <a:gd name="adj" fmla="val 465"/>
            </a:avLst>
          </a:prstGeom>
          <a:solidFill>
            <a:srgbClr val="F2EEEE"/>
          </a:solidFill>
          <a:ln w="12700">
            <a:solidFill>
              <a:srgbClr val="3E2513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150517" y="3273921"/>
            <a:ext cx="451831" cy="451842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74736" y="3398143"/>
            <a:ext cx="203294" cy="20329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150517" y="3845719"/>
            <a:ext cx="3216393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Reports and Dashboards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150517" y="4152999"/>
            <a:ext cx="3216393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Generate analytics and visualizations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661475" y="4869259"/>
            <a:ext cx="10868745" cy="1422202"/>
          </a:xfrm>
          <a:prstGeom prst="roundRect">
            <a:avLst>
              <a:gd name="adj" fmla="val 536"/>
            </a:avLst>
          </a:prstGeom>
          <a:solidFill>
            <a:srgbClr val="F2EEEE"/>
          </a:solidFill>
          <a:ln w="12700">
            <a:solidFill>
              <a:srgbClr val="3E2513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824785" y="5032573"/>
            <a:ext cx="451831" cy="451842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49004" y="5156795"/>
            <a:ext cx="203294" cy="203299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824785" y="5604371"/>
            <a:ext cx="10542125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Hospital System Integration</a:t>
            </a:r>
            <a:endParaRPr lang="en-US" sz="1450" dirty="0"/>
          </a:p>
        </p:txBody>
      </p:sp>
      <p:sp>
        <p:nvSpPr>
          <p:cNvPr id="38" name="Text 29"/>
          <p:cNvSpPr/>
          <p:nvPr/>
        </p:nvSpPr>
        <p:spPr>
          <a:xfrm>
            <a:off x="824785" y="5911652"/>
            <a:ext cx="10542125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Connect with existing hospital infrastructure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25" y="158944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Project Development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237464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Development Approach: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2794794"/>
            <a:ext cx="6296860" cy="2513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Designed the menu-driven program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Created arrays to store patient information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Created methods for separate tasks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Implemented priority calculation using conditions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Used loops for displaying and processing records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Used a 2D array for department-related data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Tested the program using different patient inputs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25" y="598651"/>
            <a:ext cx="6296860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201B1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Course Outcomes (COs)</a:t>
            </a:r>
            <a:endParaRPr lang="en-US" sz="3450" dirty="0"/>
          </a:p>
        </p:txBody>
      </p:sp>
      <p:sp>
        <p:nvSpPr>
          <p:cNvPr id="4" name="Shape 1"/>
          <p:cNvSpPr/>
          <p:nvPr/>
        </p:nvSpPr>
        <p:spPr>
          <a:xfrm>
            <a:off x="661475" y="1362174"/>
            <a:ext cx="3065386" cy="2567583"/>
          </a:xfrm>
          <a:prstGeom prst="roundRect">
            <a:avLst>
              <a:gd name="adj" fmla="val 297"/>
            </a:avLst>
          </a:prstGeom>
          <a:solidFill>
            <a:srgbClr val="F2EEEE"/>
          </a:solidFill>
          <a:ln w="19050">
            <a:solidFill>
              <a:srgbClr val="3E251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57725" y="1558429"/>
            <a:ext cx="531601" cy="531614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3870" y="1704578"/>
            <a:ext cx="239210" cy="2392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7725" y="2256135"/>
            <a:ext cx="2672886" cy="553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Programming Fundamentals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857725" y="2909590"/>
            <a:ext cx="2672886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Application of Java syntax, variables, data types, operators and input handling.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3892949" y="1362174"/>
            <a:ext cx="3065386" cy="2567583"/>
          </a:xfrm>
          <a:prstGeom prst="roundRect">
            <a:avLst>
              <a:gd name="adj" fmla="val 297"/>
            </a:avLst>
          </a:prstGeom>
          <a:solidFill>
            <a:srgbClr val="F2EEEE"/>
          </a:solidFill>
          <a:ln w="19050">
            <a:solidFill>
              <a:srgbClr val="3E2513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089198" y="1558429"/>
            <a:ext cx="531601" cy="531614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35344" y="1704578"/>
            <a:ext cx="239210" cy="23921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089198" y="2256135"/>
            <a:ext cx="267288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Problem Solving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4089198" y="2632670"/>
            <a:ext cx="2672886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Use of conditions, loops and methods to implement the triage logic.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661475" y="4095849"/>
            <a:ext cx="6296860" cy="1741388"/>
          </a:xfrm>
          <a:prstGeom prst="roundRect">
            <a:avLst>
              <a:gd name="adj" fmla="val 438"/>
            </a:avLst>
          </a:prstGeom>
          <a:solidFill>
            <a:srgbClr val="F2EEEE"/>
          </a:solidFill>
          <a:ln w="19050">
            <a:solidFill>
              <a:srgbClr val="3E2513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857725" y="4292104"/>
            <a:ext cx="531601" cy="531614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3870" y="4438253"/>
            <a:ext cx="239210" cy="23921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57725" y="4989810"/>
            <a:ext cx="5904360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Data Organization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857725" y="5366345"/>
            <a:ext cx="590436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Use of 1D arrays and 2D arrays to store and process project data.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2522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Topics &amp; Concepts Covered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159695"/>
            <a:ext cx="3496877" cy="7113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9531" y="2367756"/>
            <a:ext cx="30807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Variables &amp; Data Types</a:t>
            </a:r>
            <a:endParaRPr lang="en-US" sz="18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159695"/>
            <a:ext cx="3496877" cy="71139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55416" y="2367756"/>
            <a:ext cx="30807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Scanner</a:t>
            </a:r>
            <a:endParaRPr lang="en-US" sz="1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2159695"/>
            <a:ext cx="3496877" cy="71139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41300" y="2367756"/>
            <a:ext cx="30807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Operators</a:t>
            </a:r>
            <a:endParaRPr lang="en-US" sz="18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060105"/>
            <a:ext cx="3496877" cy="71139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69531" y="3268166"/>
            <a:ext cx="30807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if / else-if / else</a:t>
            </a:r>
            <a:endParaRPr lang="en-US" sz="18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47359" y="3060105"/>
            <a:ext cx="3496877" cy="71139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555416" y="3268166"/>
            <a:ext cx="30807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switch-case</a:t>
            </a:r>
            <a:endParaRPr lang="en-US" sz="185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33244" y="3060105"/>
            <a:ext cx="3496877" cy="71139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241300" y="3268166"/>
            <a:ext cx="30807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for loop</a:t>
            </a:r>
            <a:endParaRPr lang="en-US" sz="185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1475" y="3960515"/>
            <a:ext cx="3496877" cy="711398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869531" y="4168577"/>
            <a:ext cx="30807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do-while loop</a:t>
            </a:r>
            <a:endParaRPr lang="en-US" sz="1850" dirty="0"/>
          </a:p>
        </p:txBody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347359" y="3960515"/>
            <a:ext cx="3496877" cy="711398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4555416" y="4168577"/>
            <a:ext cx="30807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break</a:t>
            </a:r>
            <a:endParaRPr lang="en-US" sz="1850" dirty="0"/>
          </a:p>
        </p:txBody>
      </p:sp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033244" y="3960515"/>
            <a:ext cx="3496877" cy="711398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8241300" y="4168577"/>
            <a:ext cx="30807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Methods</a:t>
            </a:r>
            <a:endParaRPr lang="en-US" sz="1850" dirty="0"/>
          </a:p>
        </p:txBody>
      </p:sp>
      <p:pic>
        <p:nvPicPr>
          <p:cNvPr id="21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61475" y="4860925"/>
            <a:ext cx="3496877" cy="711398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869531" y="5068987"/>
            <a:ext cx="30807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Method Overloading</a:t>
            </a:r>
            <a:endParaRPr lang="en-US" sz="1850" dirty="0"/>
          </a:p>
        </p:txBody>
      </p:sp>
      <p:pic>
        <p:nvPicPr>
          <p:cNvPr id="23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347359" y="4860925"/>
            <a:ext cx="3496877" cy="711398"/>
          </a:xfrm>
          <a:prstGeom prst="rect">
            <a:avLst/>
          </a:prstGeom>
        </p:spPr>
      </p:pic>
      <p:sp>
        <p:nvSpPr>
          <p:cNvPr id="24" name="Text 11"/>
          <p:cNvSpPr/>
          <p:nvPr/>
        </p:nvSpPr>
        <p:spPr>
          <a:xfrm>
            <a:off x="4555416" y="5068987"/>
            <a:ext cx="30807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1D Arrays</a:t>
            </a:r>
            <a:endParaRPr lang="en-US" sz="1850" dirty="0"/>
          </a:p>
        </p:txBody>
      </p:sp>
      <p:pic>
        <p:nvPicPr>
          <p:cNvPr id="25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033244" y="4860925"/>
            <a:ext cx="3496877" cy="711398"/>
          </a:xfrm>
          <a:prstGeom prst="rect">
            <a:avLst/>
          </a:prstGeom>
        </p:spPr>
      </p:pic>
      <p:sp>
        <p:nvSpPr>
          <p:cNvPr id="26" name="Text 12"/>
          <p:cNvSpPr/>
          <p:nvPr/>
        </p:nvSpPr>
        <p:spPr>
          <a:xfrm>
            <a:off x="8241300" y="5068987"/>
            <a:ext cx="30807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2D Arrays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2026-10-14T03:16:53Z</dcterms:created>
  <dcterms:modified xsi:type="dcterms:W3CDTF">2026-10-14T03:16:53Z</dcterms:modified>
</cp:coreProperties>
</file>